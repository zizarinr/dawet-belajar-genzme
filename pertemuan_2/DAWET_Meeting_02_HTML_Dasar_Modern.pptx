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548640"/>
            <a:ext cx="2926080" cy="2926080"/>
          </a:xfrm>
          <a:prstGeom prst="ellipse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914400"/>
            <a:ext cx="1371600" cy="1371600"/>
          </a:xfrm>
          <a:prstGeom prst="ellipse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303520"/>
            <a:ext cx="1920240" cy="1920240"/>
          </a:xfrm>
          <a:prstGeom prst="ellipse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3BEA4"/>
                </a:solidFill>
                <a:latin typeface="Aptos"/>
              </a:rPr>
              <a:t>DAWET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"/>
              </a:rPr>
              <a:t>HTML dari 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D2DCEB"/>
                </a:solidFill>
                <a:latin typeface="Aptos"/>
              </a:rPr>
              <a:t>Meeting 02 • Membangun halaman web pertamamu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120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3BEA4"/>
                </a:solidFill>
                <a:latin typeface="Aptos"/>
              </a:rPr>
              <a:t>Dari struktur dasar HTML menuju Portal UMKM Kampus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ED2"/>
                </a:solidFill>
                <a:latin typeface="Aptos"/>
              </a:rPr>
              <a:t>DAWET • Meeting 02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Target Pembelajaran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Setelah sesi ini, kamu diharapkan mampu...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82296" cy="155448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01  Memahami 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7548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52B38"/>
                </a:solidFill>
                <a:latin typeface="Aptos"/>
              </a:rPr>
              <a:t>Menjelaskan fungsi HTML dalam sebuah website.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4592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45920"/>
            <a:ext cx="82296" cy="155448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02  Mengenali sintaks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67712"/>
            <a:ext cx="47548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52B38"/>
                </a:solidFill>
                <a:latin typeface="Aptos"/>
              </a:rPr>
              <a:t>Membedakan tag, element, dan attribute.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03320"/>
            <a:ext cx="82296" cy="1554480"/>
          </a:xfrm>
          <a:prstGeom prst="rect">
            <a:avLst/>
          </a:prstGeom>
          <a:solidFill>
            <a:srgbClr val="F5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862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03  Membuat struktur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325112"/>
            <a:ext cx="47548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52B38"/>
                </a:solidFill>
                <a:latin typeface="Aptos"/>
              </a:rPr>
              <a:t>Menyusun dokumen HTML yang valid secara dasar.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70332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703320"/>
            <a:ext cx="82296" cy="155448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8862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04  Mulai praktik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25112"/>
            <a:ext cx="47548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52B38"/>
                </a:solidFill>
                <a:latin typeface="Aptos"/>
              </a:rPr>
              <a:t>Membuat halaman profil UMKM sederhana.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02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Apa Itu HTML?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HTML = HyperText Markup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82296" cy="347472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HTML digunakan untuk...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617720" cy="272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B38"/>
                </a:solidFill>
                <a:latin typeface="Aptos"/>
              </a:rPr>
              <a:t>• Menyusun struktur konten website
• Menandai judul, paragraf, link, gambar, dan lainnya
• Memberi makna pada bagian-bagian halaman
HTML adalah markup language, bukan bahasa pemrograman.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3035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82296" cy="347472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Analogi sederhana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67712"/>
            <a:ext cx="4892040" cy="272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B38"/>
                </a:solidFill>
                <a:latin typeface="Aptos"/>
              </a:rPr>
              <a:t>Bayangkan website sebagai rumah:
HTML = struktur dan ruangan
CSS = tampilan, warna, dan dekorasi
JavaScript = interaksi dan perilaku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02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HTML, CSS, dan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Tiga teknologi yang sering bekerja bersama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82296" cy="338328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13432"/>
            <a:ext cx="3017520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B38"/>
                </a:solidFill>
                <a:latin typeface="Aptos"/>
              </a:rPr>
              <a:t>Menyusun isi dan struktur.
Contoh:
Judul, teks, gambar, link.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82296" cy="338328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13432"/>
            <a:ext cx="3017520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B38"/>
                </a:solidFill>
                <a:latin typeface="Aptos"/>
              </a:rPr>
              <a:t>Mengatur tampilan.
Contoh:
Warna, ukuran, jarak, layout.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82296" cy="3383280"/>
          </a:xfrm>
          <a:prstGeom prst="rect">
            <a:avLst/>
          </a:prstGeom>
          <a:solidFill>
            <a:srgbClr val="F5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874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13432"/>
            <a:ext cx="3017520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B38"/>
                </a:solidFill>
                <a:latin typeface="Aptos"/>
              </a:rPr>
              <a:t>Mengatur interaksi.
Contoh:
Klik tombol, validasi, data dinamis.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02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Tag, Element, dan Attribute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10607040" cy="96012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onsolas"/>
              </a:rPr>
              <a:t>&lt;a href="https://example.com"&gt;Kunjungi website&lt;/a&gt;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80360"/>
            <a:ext cx="82296" cy="214884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02152"/>
            <a:ext cx="297180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52B38"/>
                </a:solidFill>
                <a:latin typeface="Aptos"/>
              </a:rPr>
              <a:t>Penanda seperti &lt;a&gt; dan &lt;/a&gt;.
Tag pembuka dan penutup membungkus konten.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88036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880360"/>
            <a:ext cx="82296" cy="2148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06324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502152"/>
            <a:ext cx="297180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52B38"/>
                </a:solidFill>
                <a:latin typeface="Aptos"/>
              </a:rPr>
              <a:t>Keseluruhan bagian HTML: tag pembuka + isi + tag penutup.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88036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880360"/>
            <a:ext cx="82296" cy="2148840"/>
          </a:xfrm>
          <a:prstGeom prst="rect">
            <a:avLst/>
          </a:prstGeom>
          <a:solidFill>
            <a:srgbClr val="F5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06324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Attribute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502152"/>
            <a:ext cx="297180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52B38"/>
                </a:solidFill>
                <a:latin typeface="Aptos"/>
              </a:rPr>
              <a:t>Informasi tambahan pada tag.
Contoh: href="..."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02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Struktur Dasar Dokumen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Gunakan struktur ini sebagai titik awal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6400800" cy="44348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39"/>
            <a:ext cx="5943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&lt;!DOCTYPE html&gt;
&lt;html lang="id"&gt;
&lt;head&gt;
  &lt;meta charset="UTF-8"&gt;
  &lt;title&gt;Halaman Saya&lt;/title&gt;
&lt;/head&gt;
&lt;body&gt;
  &lt;h1&gt;Hello, DAWET!&lt;/h1&gt;
  &lt;p&gt;Ini halaman web pertama saya.&lt;/p&gt;
&lt;/body&gt;
&lt;/html&gt;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00200"/>
            <a:ext cx="3703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600200"/>
            <a:ext cx="82296" cy="118872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783080"/>
            <a:ext cx="3291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DOCTYPE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221992"/>
            <a:ext cx="32918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52B38"/>
                </a:solidFill>
                <a:latin typeface="Aptos"/>
              </a:rPr>
              <a:t>Memberi tahu browser bahwa dokumen menggunakan HTML5.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971800"/>
            <a:ext cx="3703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2971800"/>
            <a:ext cx="82296" cy="118872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154680"/>
            <a:ext cx="3291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93592"/>
            <a:ext cx="32918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52B38"/>
                </a:solidFill>
                <a:latin typeface="Aptos"/>
              </a:rPr>
              <a:t>Informasi halaman, metadata, dan title.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343400"/>
            <a:ext cx="3703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4343400"/>
            <a:ext cx="82296" cy="1188720"/>
          </a:xfrm>
          <a:prstGeom prst="rect">
            <a:avLst/>
          </a:prstGeom>
          <a:solidFill>
            <a:srgbClr val="F5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526280"/>
            <a:ext cx="3291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body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965192"/>
            <a:ext cx="32918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52B38"/>
                </a:solidFill>
                <a:latin typeface="Aptos"/>
              </a:rPr>
              <a:t>Konten yang tampil di halaman browser.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02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Mengenal &lt;head&gt; dan &lt;body&gt;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0749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82296" cy="342900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&lt;head&gt;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67712"/>
            <a:ext cx="4663440" cy="2679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Biasanya berisi:
• &lt;title&gt;
• &lt;meta charset="UTF-8"&gt;
• Link stylesheet
• Metadata lainnya
Tidak semua isinya tampil sebagai konten utama.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0749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645920"/>
            <a:ext cx="82296" cy="342900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&lt;body&gt;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67712"/>
            <a:ext cx="4663440" cy="2679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Berisi konten yang ingin ditampilkan:
• Heading
• Paragraph
• Image
• Link
• List
• Dan elemen lainnya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02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Heading dan Paragraph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5577840" cy="219456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37360"/>
            <a:ext cx="512064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&lt;h1&gt;Warung Berkah&lt;/h1&gt;
&lt;h2&gt;Menu Favorit&lt;/h2&gt;
&lt;p&gt;Kami menyediakan makanan rumahan
dengan harga bersahabat.&lt;/p&gt;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600200"/>
            <a:ext cx="4663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20840" y="1600200"/>
            <a:ext cx="82296" cy="109728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83080"/>
            <a:ext cx="42519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Heading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221992"/>
            <a:ext cx="42519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2B38"/>
                </a:solidFill>
                <a:latin typeface="Aptos"/>
              </a:rPr>
              <a:t>Gunakan h1 sampai h6 untuk tingkatan judul. Biasanya satu h1 menjadi judul utama.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926080"/>
            <a:ext cx="4663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2926080"/>
            <a:ext cx="82296" cy="109728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3108960"/>
            <a:ext cx="42519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Paragraph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547872"/>
            <a:ext cx="42519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2B38"/>
                </a:solidFill>
                <a:latin typeface="Aptos"/>
              </a:rPr>
              <a:t>Gunakan &lt;p&gt; untuk teks atau paragraf.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4251960"/>
            <a:ext cx="4663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4251960"/>
            <a:ext cx="82296" cy="1097280"/>
          </a:xfrm>
          <a:prstGeom prst="rect">
            <a:avLst/>
          </a:prstGeom>
          <a:solidFill>
            <a:srgbClr val="F5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4434840"/>
            <a:ext cx="42519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Catatan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873752"/>
            <a:ext cx="42519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2B38"/>
                </a:solidFill>
                <a:latin typeface="Aptos"/>
              </a:rPr>
              <a:t>Pilih heading berdasarkan struktur, bukan hanya ukuran tampilan.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02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List: &lt;ul&gt; dan &lt;ol&gt;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5852160" cy="434340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91639"/>
            <a:ext cx="53949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&lt;h2&gt;Menu&lt;/h2&gt;
&lt;ul&gt;
  &lt;li&gt;Nasi Goreng&lt;/li&gt;
  &lt;li&gt;Mie Ayam&lt;/li&gt;
&lt;/ul&gt;
&lt;h2&gt;Langkah Pemesanan&lt;/h2&gt;
&lt;ol&gt;
  &lt;li&gt;Pilih menu&lt;/li&gt;
  &lt;li&gt;Hubungi penjual&lt;/li&gt;
  &lt;li&gt;Konfirmasi pesanan&lt;/li&gt;
&lt;/ol&gt;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737360"/>
            <a:ext cx="4251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86600" y="1737360"/>
            <a:ext cx="82296" cy="141732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92024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&lt;ul&gt;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359152"/>
            <a:ext cx="384048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52B38"/>
                </a:solidFill>
                <a:latin typeface="Aptos"/>
              </a:rPr>
              <a:t>Unordered list: daftar tanpa urutan khusus. Biasanya menggunakan bullet.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3474720"/>
            <a:ext cx="4251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86600" y="3474720"/>
            <a:ext cx="82296" cy="141732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65760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&lt;ol&gt;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096511"/>
            <a:ext cx="384048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52B38"/>
                </a:solidFill>
                <a:latin typeface="Aptos"/>
              </a:rPr>
              <a:t>Ordered list: daftar berurutan. Biasanya menggunakan nomor.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02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Link dengan &lt;a&gt; dan href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15600" cy="91440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&lt;a href="https://instagram.com/"&gt;Instagram UMKM&lt;/a&gt;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7180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971800"/>
            <a:ext cx="82296" cy="196596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href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93592"/>
            <a:ext cx="466344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Menentukan alamat tujuan link.
Bisa berupa URL eksternal atau alamat halaman internal.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97180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971800"/>
            <a:ext cx="82296" cy="196596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1546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Contoh penggunaan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593592"/>
            <a:ext cx="466344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• Link Instagram
• Link WhatsApp
• Link ke halaman menu
• Link ke bagian tertentu dalam halaman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02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Gambar dengan &lt;img&gt;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15600" cy="91440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&lt;img src="images/menu.jpg" alt="Foto menu makanan"&gt;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71800"/>
            <a:ext cx="50749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971800"/>
            <a:ext cx="82296" cy="210312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src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93592"/>
            <a:ext cx="4663440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Menentukan lokasi atau alamat file gambar.
Contoh: images/menu.jpg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971800"/>
            <a:ext cx="50749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971800"/>
            <a:ext cx="82296" cy="210312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1546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alt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593592"/>
            <a:ext cx="4663440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Teks alternatif yang menjelaskan gambar. Berguna untuk aksesibilitas dan saat gambar gagal dimuat.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02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Contoh: Profil UMKM Sederhana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Kita mulai membangun fondasi Portal UMKM Kampus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7315200" cy="48920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68580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&lt;!DOCTYPE html&gt;
&lt;html lang="id"&gt;
&lt;head&gt;
  &lt;meta charset="UTF-8"&gt;
  &lt;title&gt;Warung Berkah&lt;/title&gt;
&lt;/head&gt;
&lt;body&gt;
  &lt;h1&gt;Warung Berkah&lt;/h1&gt;
  &lt;p&gt;Makanan rumahan untuk mahasiswa.&lt;/p&gt;
  &lt;h2&gt;Menu&lt;/h2&gt;
  &lt;ul&gt;
    &lt;li&gt;Nasi Goreng — Rp12.000&lt;/li&gt;
    &lt;li&gt;Es Teh — Rp4.000&lt;/li&gt;
  &lt;/ul&gt;
  &lt;a href="https://wa.me/628123456789"&gt;
    Hubungi via WhatsApp
  &lt;/a&gt;
&lt;/body&gt;
&lt;/html&gt;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828800"/>
            <a:ext cx="28803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58200" y="1828800"/>
            <a:ext cx="82296" cy="201168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2011680"/>
            <a:ext cx="2468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Perhatikan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450592"/>
            <a:ext cx="2468879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52B38"/>
                </a:solidFill>
                <a:latin typeface="Aptos"/>
              </a:rPr>
              <a:t>• Struktur dokumen
• Heading
• Paragraph
• List
• 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4160520"/>
            <a:ext cx="2880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58200" y="4160520"/>
            <a:ext cx="82296" cy="1371600"/>
          </a:xfrm>
          <a:prstGeom prst="rect">
            <a:avLst/>
          </a:prstGeom>
          <a:solidFill>
            <a:srgbClr val="F5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4343400"/>
            <a:ext cx="2468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Tantangan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782312"/>
            <a:ext cx="246887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2B38"/>
                </a:solidFill>
                <a:latin typeface="Aptos"/>
              </a:rPr>
              <a:t>Ganti nama, menu, harga, dan link sesuai UMKM pilihanmu.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02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Alur Praktik Hari Ini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242316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82296" cy="283464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1  Buat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50592"/>
            <a:ext cx="2011679" cy="2084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minggu-02/index.html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7889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9718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42316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828800"/>
            <a:ext cx="82296" cy="28346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011680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2  Tulis struktur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450592"/>
            <a:ext cx="2011679" cy="2084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DOCTYPE, html, head, body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7889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9718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1828800"/>
            <a:ext cx="242316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79" y="1828800"/>
            <a:ext cx="82296" cy="2834640"/>
          </a:xfrm>
          <a:prstGeom prst="rect">
            <a:avLst/>
          </a:prstGeom>
          <a:solidFill>
            <a:srgbClr val="F5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2011680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3  Isi konten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450592"/>
            <a:ext cx="2011679" cy="2084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Judul, deskripsi, menu, 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59" y="27889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97180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3999" y="1828800"/>
            <a:ext cx="242316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999" y="1828800"/>
            <a:ext cx="82296" cy="283464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599" y="2011680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4  Buka 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2450592"/>
            <a:ext cx="2011679" cy="2084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Periksa hasil dan 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02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Mini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Kerjakan secara mandiri atau berpasangan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82296" cy="411480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Buat halaman profil UMKM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76272"/>
            <a:ext cx="4800600" cy="3364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B38"/>
                </a:solidFill>
                <a:latin typeface="Aptos"/>
              </a:rPr>
              <a:t>Wajib memiliki:
✓ Judul utama menggunakan h1
✓ Deskripsi singkat menggunakan p
✓ Daftar minimal 3 menu menggunakan ul dan li
✓ Satu gambar dengan img dan alt
✓ Satu link kontak menggunakan a dan href
✓ Struktur html, head, dan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82296" cy="411480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37360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Bonus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76272"/>
            <a:ext cx="4526280" cy="3364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B38"/>
                </a:solidFill>
                <a:latin typeface="Aptos"/>
              </a:rPr>
              <a:t>Tambahkan:
+ Link Instagram
+ Daftar langkah pemesanan dengan ol
+ Harga setiap menu
+ Judul halaman yang sesuai
+ Komentar HTML untuk menandai bagian kode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02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Checkpoint Pemahaman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400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82296" cy="429768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5989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Coba jelaskan dengan bahasamu sendiri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21992"/>
            <a:ext cx="5989320" cy="3547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52B38"/>
                </a:solidFill>
                <a:latin typeface="Aptos"/>
              </a:rPr>
              <a:t>• Apa fungsi HTML?
• Apa perbedaan tag, element, dan attribute?
• Apa fungsi href dan src?
• Kapan menggunakan ul dan kapan menggunakan ol?
• Apa perbedaan head dan body?
• Mengapa gambar sebaiknya memiliki alt?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600200"/>
            <a:ext cx="37947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600200"/>
            <a:ext cx="82296" cy="429768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78308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Kriteria selesai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221992"/>
            <a:ext cx="3383280" cy="3547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Kamu siap lanjut jika:
✓ Bisa membuat file HTML dari nol
✓ Bisa menjelaskan struktur dasar
✓ Bisa menulis konten sederhana
✓ Bisa membuka dan mengecek hasil di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02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Tugas Mandiri &amp; GitHub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82296" cy="411480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Tugas sebelum pertemuan berikutnya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21992"/>
            <a:ext cx="4709159" cy="3364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52B38"/>
                </a:solidFill>
                <a:latin typeface="Aptos"/>
              </a:rPr>
              <a:t>1. Rapikan halaman profil UMKM.
2. Tambahkan minimal 5 item konten.
3. Uji link dan gambar.
4. Simpan di repository GitHub pribadi.
5. Tulis README singkat tentang apa yang dipelajari.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00200"/>
            <a:ext cx="50292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600200"/>
            <a:ext cx="82296" cy="411480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Format README minimal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21992"/>
            <a:ext cx="4617720" cy="3364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52B38"/>
                </a:solidFill>
                <a:latin typeface="Aptos"/>
              </a:rPr>
              <a:t>• Nama dan identitas
• Judul proyek
• Deskripsi singkat
• Teknologi yang digunakan
• Hal yang dipelajari
• Kendala dan solusi
• Screenshot hasil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02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Referensi Belajar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105156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82296" cy="4206240"/>
          </a:xfrm>
          <a:prstGeom prst="rect">
            <a:avLst/>
          </a:prstGeom>
          <a:solidFill>
            <a:srgbClr val="31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104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Sumber resmi dan alat latihan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21992"/>
            <a:ext cx="10104120" cy="3456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2B38"/>
                </a:solidFill>
                <a:latin typeface="Aptos"/>
              </a:rPr>
              <a:t>MDN Web Docs
https://developer.mozilla.org/en-US/docs/Learn_web_development/Core/Structuring_content/Basic_HTML_syntax
HTML Elements Reference
https://developer.mozilla.org/en-US/docs/Web/HTML/Reference/Elements
W3C Markup Validation Service
https://validator.w3.org/
Gunakan dokumentasi untuk memahami konsep, bukan sekadar menyalin kode.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02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Satu halaman hari ini.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43BEA4"/>
                </a:solidFill>
                <a:latin typeface="Aptos"/>
              </a:rPr>
              <a:t>Satu website besok.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D2DCEB"/>
                </a:solidFill>
                <a:latin typeface="Aptos"/>
              </a:rPr>
              <a:t>Mulai dari struktur kecil, bangun proyek yang nyata.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4BED2"/>
                </a:solidFill>
                <a:latin typeface="Aptos"/>
              </a:rPr>
              <a:t>DAWET • Meeting 02                       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